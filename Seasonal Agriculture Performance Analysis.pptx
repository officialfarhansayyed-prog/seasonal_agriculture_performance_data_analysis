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3.png"/><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521161"/>
            <a:ext cx="7548517" cy="861497"/>
          </a:xfrm>
        </p:spPr>
        <p:txBody>
          <a:bodyPr vert="horz" lIns="91440" tIns="45720" rIns="91440" bIns="45720" rtlCol="0" anchor="t">
            <a:normAutofit fontScale="92500"/>
          </a:bodyPr>
          <a:lstStyle/>
          <a:p>
            <a:r>
              <a:rPr lang="en-US" b="0" dirty="0">
                <a:solidFill>
                  <a:schemeClr val="tx1"/>
                </a:solidFill>
              </a:rPr>
              <a:t>Student Name – Farhan Firoz Sayyed</a:t>
            </a:r>
          </a:p>
          <a:p>
            <a:r>
              <a:rPr lang="en-US" b="0" dirty="0">
                <a:solidFill>
                  <a:schemeClr val="tx1"/>
                </a:solidFill>
              </a:rPr>
              <a:t>College Name- St. Andrew’s college of science , arts &amp; commerce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522276" cy="743448"/>
          </a:xfrm>
        </p:spPr>
        <p:txBody>
          <a:bodyPr>
            <a:normAutofit fontScale="90000"/>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573954" cy="646331"/>
          </a:xfrm>
          <a:prstGeom prst="rect">
            <a:avLst/>
          </a:prstGeom>
          <a:noFill/>
        </p:spPr>
        <p:txBody>
          <a:bodyPr wrap="square" rtlCol="0">
            <a:spAutoFit/>
          </a:bodyPr>
          <a:lstStyle/>
          <a:p>
            <a:r>
              <a:rPr lang="en-US" b="1" dirty="0"/>
              <a:t>AICTE STU ID-:</a:t>
            </a:r>
          </a:p>
          <a:p>
            <a:r>
              <a:rPr lang="en-IN" dirty="0"/>
              <a:t>STU676e36babf3a31735276218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10668001" cy="830997"/>
              </a:xfrm>
            </p:spPr>
            <p:txBody>
              <a:bodyPr>
                <a:noAutofit/>
              </a:bodyPr>
              <a:lstStyle/>
              <a:p>
                <a:pPr lvl="0"/>
                <a:r>
                  <a:rPr lang="en-GB" sz="2400" dirty="0"/>
                  <a:t>Project Description-:</a:t>
                </a:r>
                <a:br>
                  <a:rPr lang="en-GB" sz="2400" dirty="0"/>
                </a:br>
                <a:r>
                  <a:rPr lang="en-IN" sz="2400" dirty="0"/>
                  <a:t>Dataset Scope: </a:t>
                </a:r>
                <a:r>
                  <a:rPr lang="en-IN" sz="2400" dirty="0" err="1"/>
                  <a:t>Analyzed</a:t>
                </a:r>
                <a:r>
                  <a:rPr lang="en-IN" sz="2400" dirty="0"/>
                  <a:t> a 4,000-record agricultural dataset across Kharif, Rabi, and Zaid seasons.</a:t>
                </a:r>
                <a:br>
                  <a:rPr lang="en-IN" sz="2400" dirty="0"/>
                </a:br>
                <a:br>
                  <a:rPr lang="en-IN" sz="2400" dirty="0"/>
                </a:br>
                <a:r>
                  <a:rPr lang="en-IN" sz="2400" dirty="0"/>
                  <a:t>Data Preparation: Applied group-median imputation (Season &amp; Crop) for missing values and IQR calculations for outlier detection.</a:t>
                </a:r>
                <a:br>
                  <a:rPr lang="en-IN" sz="2400" dirty="0"/>
                </a:br>
                <a:br>
                  <a:rPr lang="en-IN" sz="2400" dirty="0"/>
                </a:br>
                <a:r>
                  <a:rPr lang="en-IN" sz="2400" dirty="0"/>
                  <a:t>Exploratory Data Analysis: Evaluated single-variable distributions, cross-group correlations, violin plots, and bivariate KDE density maps.</a:t>
                </a:r>
                <a:br>
                  <a:rPr lang="en-IN" sz="2400" dirty="0"/>
                </a:br>
                <a:br>
                  <a:rPr lang="en-IN" sz="2400" dirty="0"/>
                </a:br>
                <a:r>
                  <a:rPr lang="en-IN" sz="2400" dirty="0"/>
                  <a:t>Statistical Rigor: Performed One-Way ANOVA and Tukey’s HSD post-hoc testing (</a:t>
                </a:r>
                <a14:m>
                  <m:oMath xmlns:m="http://schemas.openxmlformats.org/officeDocument/2006/math">
                    <m:r>
                      <a:rPr lang="en-IN" sz="2400" i="1"/>
                      <m:t>𝑝</m:t>
                    </m:r>
                    <m:r>
                      <a:rPr lang="en-IN" sz="2400"/>
                      <m:t>&lt;0.05</m:t>
                    </m:r>
                  </m:oMath>
                </a14:m>
                <a:r>
                  <a:rPr lang="en-IN" sz="2400" dirty="0"/>
                  <a:t>) to mathematically prove inter-seasonal differences.</a:t>
                </a:r>
                <a:br>
                  <a:rPr lang="en-IN" sz="2400" dirty="0"/>
                </a:br>
                <a:r>
                  <a:rPr lang="en-IN" sz="2400" dirty="0"/>
                  <a:t>Predictive </a:t>
                </a:r>
                <a:r>
                  <a:rPr lang="en-IN" sz="2400" dirty="0" err="1"/>
                  <a:t>Modeling</a:t>
                </a:r>
                <a:r>
                  <a:rPr lang="en-IN" sz="2400" dirty="0"/>
                  <a:t>: Trained Random Forest Regressors to identify k</a:t>
                </a:r>
                <a:br>
                  <a:rPr lang="en-IN" sz="2400" dirty="0"/>
                </a:br>
                <a:br>
                  <a:rPr lang="en-GB" sz="2400" dirty="0"/>
                </a:br>
                <a:endParaRPr lang="en-IN" sz="2400" dirty="0"/>
              </a:p>
            </p:txBody>
          </p:sp>
        </mc:Choice>
        <mc:Fallback>
          <p:sp>
            <p:nvSpPr>
              <p:cNvPr id="3" name="Title 2">
                <a:extLst>
                  <a:ext uri="{FF2B5EF4-FFF2-40B4-BE49-F238E27FC236}">
                    <a16:creationId xmlns:a16="http://schemas.microsoft.com/office/drawing/2014/main" id="{EBF2FBC7-3552-4F01-BB27-8BEEE74F7277}"/>
                  </a:ext>
                </a:extLst>
              </p:cNvPr>
              <p:cNvSpPr>
                <a:spLocks noGrp="1" noRot="1" noChangeAspect="1" noMove="1" noResize="1" noEditPoints="1" noAdjustHandles="1" noChangeArrowheads="1" noChangeShapeType="1" noTextEdit="1"/>
              </p:cNvSpPr>
              <p:nvPr>
                <p:ph type="title"/>
              </p:nvPr>
            </p:nvSpPr>
            <p:spPr>
              <a:xfrm>
                <a:off x="660399" y="805213"/>
                <a:ext cx="10668001" cy="830997"/>
              </a:xfrm>
              <a:blipFill>
                <a:blip r:embed="rId2"/>
                <a:stretch>
                  <a:fillRect l="-857" t="-5882" b="-50147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3"/>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4"/>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1679258"/>
            <a:ext cx="9865361" cy="3990023"/>
          </a:xfrm>
        </p:spPr>
        <p:txBody>
          <a:bodyPr>
            <a:normAutofit fontScale="92500" lnSpcReduction="20000"/>
          </a:bodyPr>
          <a:lstStyle/>
          <a:p>
            <a:pPr lvl="0"/>
            <a:r>
              <a:rPr lang="en-IN" sz="3600" b="1" dirty="0"/>
              <a:t>Agricultural Policy Makers</a:t>
            </a:r>
            <a:r>
              <a:rPr lang="en-IN" sz="3600" dirty="0"/>
              <a:t>: To design regional water harvesting initiatives and seasonal crop subsidies.</a:t>
            </a:r>
          </a:p>
          <a:p>
            <a:pPr lvl="0"/>
            <a:r>
              <a:rPr lang="en-IN" sz="3600" b="1" dirty="0"/>
              <a:t>Farm Owners &amp; Agronomists</a:t>
            </a:r>
            <a:r>
              <a:rPr lang="en-IN" sz="3600" dirty="0"/>
              <a:t>: To optimize crop selection, fertilizer application, and irrigation schedules.</a:t>
            </a:r>
          </a:p>
          <a:p>
            <a:pPr lvl="0"/>
            <a:r>
              <a:rPr lang="en-IN" sz="3600" b="1" dirty="0"/>
              <a:t>Supply Chain &amp; Agri-Tech Companies</a:t>
            </a:r>
            <a:r>
              <a:rPr lang="en-IN" sz="3600" dirty="0"/>
              <a:t>: To forecast seasonal harvest volumes and mitigate financial risks.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2783840"/>
          </a:xfrm>
        </p:spPr>
        <p:txBody>
          <a:bodyPr/>
          <a:lstStyle/>
          <a:p>
            <a:pPr lvl="0"/>
            <a:r>
              <a:rPr lang="en-IN" b="1" dirty="0"/>
              <a:t>Language &amp; Environment</a:t>
            </a:r>
            <a:r>
              <a:rPr lang="en-IN" dirty="0"/>
              <a:t>: Python 3.x, Google </a:t>
            </a:r>
            <a:r>
              <a:rPr lang="en-IN" dirty="0" err="1"/>
              <a:t>Colab</a:t>
            </a:r>
            <a:r>
              <a:rPr lang="en-IN" dirty="0"/>
              <a:t> / Jupyter Notebook</a:t>
            </a:r>
          </a:p>
          <a:p>
            <a:pPr lvl="0"/>
            <a:r>
              <a:rPr lang="en-IN" b="1" dirty="0"/>
              <a:t>Data Processing</a:t>
            </a:r>
            <a:r>
              <a:rPr lang="en-IN" dirty="0"/>
              <a:t>: Pandas, NumPy</a:t>
            </a:r>
          </a:p>
          <a:p>
            <a:pPr lvl="0"/>
            <a:r>
              <a:rPr lang="en-IN" b="1" dirty="0"/>
              <a:t>Visualization</a:t>
            </a:r>
            <a:r>
              <a:rPr lang="en-IN" dirty="0"/>
              <a:t>: Matplotlib, Seaborn</a:t>
            </a:r>
          </a:p>
          <a:p>
            <a:pPr lvl="0"/>
            <a:r>
              <a:rPr lang="en-IN" b="1" dirty="0"/>
              <a:t>Statistics &amp; ML</a:t>
            </a:r>
            <a:r>
              <a:rPr lang="en-IN" dirty="0"/>
              <a:t>: SciPy, </a:t>
            </a:r>
            <a:r>
              <a:rPr lang="en-IN" dirty="0" err="1"/>
              <a:t>Statsmodels</a:t>
            </a:r>
            <a:r>
              <a:rPr lang="en-IN" dirty="0"/>
              <a:t>, Scikit-Learn (</a:t>
            </a:r>
            <a:r>
              <a:rPr lang="en-IN" dirty="0" err="1"/>
              <a:t>RandomForestRegressor</a:t>
            </a:r>
            <a:r>
              <a:rPr lang="en-IN" dirty="0"/>
              <a: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D442E7D-4782-C583-32EE-0A203BBA2227}"/>
              </a:ext>
            </a:extLst>
          </p:cNvPr>
          <p:cNvPicPr>
            <a:picLocks noChangeAspect="1"/>
          </p:cNvPicPr>
          <p:nvPr/>
        </p:nvPicPr>
        <p:blipFill>
          <a:blip r:embed="rId3"/>
          <a:stretch>
            <a:fillRect/>
          </a:stretch>
        </p:blipFill>
        <p:spPr>
          <a:xfrm>
            <a:off x="427814" y="1275371"/>
            <a:ext cx="5535222" cy="2988404"/>
          </a:xfrm>
          <a:prstGeom prst="rect">
            <a:avLst/>
          </a:prstGeom>
          <a:ln w="12700">
            <a:solidFill>
              <a:schemeClr val="tx1"/>
            </a:solidFill>
          </a:ln>
        </p:spPr>
      </p:pic>
      <p:pic>
        <p:nvPicPr>
          <p:cNvPr id="9" name="Picture 8">
            <a:extLst>
              <a:ext uri="{FF2B5EF4-FFF2-40B4-BE49-F238E27FC236}">
                <a16:creationId xmlns:a16="http://schemas.microsoft.com/office/drawing/2014/main" id="{498B8765-5740-0CB3-CD05-6792B39D6DED}"/>
              </a:ext>
            </a:extLst>
          </p:cNvPr>
          <p:cNvPicPr>
            <a:picLocks noChangeAspect="1"/>
          </p:cNvPicPr>
          <p:nvPr/>
        </p:nvPicPr>
        <p:blipFill>
          <a:blip r:embed="rId4"/>
          <a:stretch>
            <a:fillRect/>
          </a:stretch>
        </p:blipFill>
        <p:spPr>
          <a:xfrm>
            <a:off x="6328881" y="3134986"/>
            <a:ext cx="5435305" cy="2963316"/>
          </a:xfrm>
          <a:prstGeom prst="rect">
            <a:avLst/>
          </a:prstGeom>
          <a:noFill/>
          <a:ln w="12700">
            <a:solidFill>
              <a:schemeClr val="tx1"/>
            </a:solidFill>
          </a:ln>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BC926F9B-3B98-7A8F-DF83-F3CA86D53B5C}"/>
              </a:ext>
            </a:extLst>
          </p:cNvPr>
          <p:cNvPicPr>
            <a:picLocks noChangeAspect="1"/>
          </p:cNvPicPr>
          <p:nvPr/>
        </p:nvPicPr>
        <p:blipFill>
          <a:blip r:embed="rId3"/>
          <a:stretch>
            <a:fillRect/>
          </a:stretch>
        </p:blipFill>
        <p:spPr>
          <a:xfrm>
            <a:off x="1992762" y="1275371"/>
            <a:ext cx="7417181" cy="1720938"/>
          </a:xfrm>
          <a:prstGeom prst="rect">
            <a:avLst/>
          </a:prstGeom>
          <a:ln w="12700">
            <a:solidFill>
              <a:schemeClr val="tx1"/>
            </a:solidFill>
          </a:ln>
        </p:spPr>
      </p:pic>
      <p:pic>
        <p:nvPicPr>
          <p:cNvPr id="12" name="Picture 11">
            <a:extLst>
              <a:ext uri="{FF2B5EF4-FFF2-40B4-BE49-F238E27FC236}">
                <a16:creationId xmlns:a16="http://schemas.microsoft.com/office/drawing/2014/main" id="{39A79669-946D-F57E-F13E-8853F101CF33}"/>
              </a:ext>
            </a:extLst>
          </p:cNvPr>
          <p:cNvPicPr>
            <a:picLocks noChangeAspect="1"/>
          </p:cNvPicPr>
          <p:nvPr/>
        </p:nvPicPr>
        <p:blipFill>
          <a:blip r:embed="rId4"/>
          <a:stretch>
            <a:fillRect/>
          </a:stretch>
        </p:blipFill>
        <p:spPr>
          <a:xfrm>
            <a:off x="2508419" y="3276963"/>
            <a:ext cx="6239074" cy="3210448"/>
          </a:xfrm>
          <a:prstGeom prst="rect">
            <a:avLst/>
          </a:prstGeom>
          <a:ln w="12700">
            <a:solidFill>
              <a:schemeClr val="tx1"/>
            </a:solidFill>
          </a:ln>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B331D45-AC3F-FAC0-9AB5-AB2A78E97710}"/>
              </a:ext>
            </a:extLst>
          </p:cNvPr>
          <p:cNvPicPr>
            <a:picLocks noChangeAspect="1"/>
          </p:cNvPicPr>
          <p:nvPr/>
        </p:nvPicPr>
        <p:blipFill>
          <a:blip r:embed="rId3"/>
          <a:stretch>
            <a:fillRect/>
          </a:stretch>
        </p:blipFill>
        <p:spPr>
          <a:xfrm>
            <a:off x="444145" y="1552478"/>
            <a:ext cx="11303710" cy="3753043"/>
          </a:xfrm>
          <a:prstGeom prst="rect">
            <a:avLst/>
          </a:prstGeom>
          <a:ln w="12700">
            <a:solidFill>
              <a:schemeClr val="tx1"/>
            </a:solidFill>
          </a:ln>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CA03570-6F38-04FA-FDE8-4E5AA16E1273}"/>
              </a:ext>
            </a:extLst>
          </p:cNvPr>
          <p:cNvPicPr>
            <a:picLocks noChangeAspect="1"/>
          </p:cNvPicPr>
          <p:nvPr/>
        </p:nvPicPr>
        <p:blipFill>
          <a:blip r:embed="rId3"/>
          <a:stretch>
            <a:fillRect/>
          </a:stretch>
        </p:blipFill>
        <p:spPr>
          <a:xfrm>
            <a:off x="320982" y="1201586"/>
            <a:ext cx="5921277" cy="3493704"/>
          </a:xfrm>
          <a:prstGeom prst="rect">
            <a:avLst/>
          </a:prstGeom>
          <a:ln w="12700">
            <a:solidFill>
              <a:schemeClr val="tx1"/>
            </a:solidFill>
          </a:ln>
        </p:spPr>
      </p:pic>
      <p:pic>
        <p:nvPicPr>
          <p:cNvPr id="12" name="Picture 11">
            <a:extLst>
              <a:ext uri="{FF2B5EF4-FFF2-40B4-BE49-F238E27FC236}">
                <a16:creationId xmlns:a16="http://schemas.microsoft.com/office/drawing/2014/main" id="{7F88CBA9-9F31-5AFE-5920-190349B1A505}"/>
              </a:ext>
            </a:extLst>
          </p:cNvPr>
          <p:cNvPicPr>
            <a:picLocks noChangeAspect="1"/>
          </p:cNvPicPr>
          <p:nvPr/>
        </p:nvPicPr>
        <p:blipFill>
          <a:blip r:embed="rId4"/>
          <a:stretch>
            <a:fillRect/>
          </a:stretch>
        </p:blipFill>
        <p:spPr>
          <a:xfrm>
            <a:off x="6585735" y="1201586"/>
            <a:ext cx="5373384" cy="3493704"/>
          </a:xfrm>
          <a:prstGeom prst="rect">
            <a:avLst/>
          </a:prstGeom>
          <a:ln w="12700">
            <a:solidFill>
              <a:schemeClr val="tx1"/>
            </a:solidFill>
          </a:ln>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2F252CD-E3C9-2CAF-FEB3-DC84468337AB}"/>
              </a:ext>
            </a:extLst>
          </p:cNvPr>
          <p:cNvPicPr>
            <a:picLocks noChangeAspect="1"/>
          </p:cNvPicPr>
          <p:nvPr/>
        </p:nvPicPr>
        <p:blipFill>
          <a:blip r:embed="rId3"/>
          <a:stretch>
            <a:fillRect/>
          </a:stretch>
        </p:blipFill>
        <p:spPr>
          <a:xfrm>
            <a:off x="675957" y="1387343"/>
            <a:ext cx="5239019" cy="3733992"/>
          </a:xfrm>
          <a:prstGeom prst="rect">
            <a:avLst/>
          </a:prstGeom>
          <a:ln>
            <a:solidFill>
              <a:schemeClr val="tx1"/>
            </a:solidFill>
          </a:ln>
        </p:spPr>
      </p:pic>
      <p:pic>
        <p:nvPicPr>
          <p:cNvPr id="12" name="Picture 11">
            <a:extLst>
              <a:ext uri="{FF2B5EF4-FFF2-40B4-BE49-F238E27FC236}">
                <a16:creationId xmlns:a16="http://schemas.microsoft.com/office/drawing/2014/main" id="{BD9A3FB0-7115-C823-44BE-D20A0535E05A}"/>
              </a:ext>
            </a:extLst>
          </p:cNvPr>
          <p:cNvPicPr>
            <a:picLocks noChangeAspect="1"/>
          </p:cNvPicPr>
          <p:nvPr/>
        </p:nvPicPr>
        <p:blipFill>
          <a:blip r:embed="rId4"/>
          <a:stretch>
            <a:fillRect/>
          </a:stretch>
        </p:blipFill>
        <p:spPr>
          <a:xfrm>
            <a:off x="6423081" y="1387343"/>
            <a:ext cx="5092962" cy="3721291"/>
          </a:xfrm>
          <a:prstGeom prst="rect">
            <a:avLst/>
          </a:prstGeom>
          <a:ln w="12700">
            <a:solidFill>
              <a:schemeClr val="tx1"/>
            </a:solidFill>
          </a:ln>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68EA9C5C-1BEC-02DB-FFEF-31036BA2219D}"/>
              </a:ext>
            </a:extLst>
          </p:cNvPr>
          <p:cNvSpPr txBox="1"/>
          <p:nvPr/>
        </p:nvSpPr>
        <p:spPr>
          <a:xfrm>
            <a:off x="675957" y="1130900"/>
            <a:ext cx="9398351" cy="3785652"/>
          </a:xfrm>
          <a:prstGeom prst="rect">
            <a:avLst/>
          </a:prstGeom>
          <a:noFill/>
        </p:spPr>
        <p:txBody>
          <a:bodyPr wrap="square" rtlCol="0">
            <a:spAutoFit/>
          </a:bodyPr>
          <a:lstStyle/>
          <a:p>
            <a:pPr lvl="0"/>
            <a:r>
              <a:rPr lang="en-IN" sz="2400" b="1" dirty="0"/>
              <a:t>IoT Integration</a:t>
            </a:r>
            <a:r>
              <a:rPr lang="en-IN" sz="2400" dirty="0"/>
              <a:t>: Incorporate real-time soil and weather sensors for dynamic automated irrigation.</a:t>
            </a:r>
          </a:p>
          <a:p>
            <a:pPr lvl="0"/>
            <a:endParaRPr lang="en-IN" sz="2400" dirty="0"/>
          </a:p>
          <a:p>
            <a:pPr lvl="0"/>
            <a:r>
              <a:rPr lang="en-IN" sz="2400" b="1" dirty="0"/>
              <a:t>Geospatial Analysis</a:t>
            </a:r>
            <a:r>
              <a:rPr lang="en-IN" sz="2400" dirty="0"/>
              <a:t>: Implement GIS and satellite imagery for regional crop health tracking.</a:t>
            </a:r>
          </a:p>
          <a:p>
            <a:pPr lvl="0"/>
            <a:endParaRPr lang="en-IN" sz="2400" b="1" dirty="0"/>
          </a:p>
          <a:p>
            <a:pPr lvl="0"/>
            <a:r>
              <a:rPr lang="en-IN" sz="2400" b="1" dirty="0"/>
              <a:t>Predictive Time-Series</a:t>
            </a:r>
            <a:r>
              <a:rPr lang="en-IN" sz="2400" dirty="0"/>
              <a:t>: Train deep learning models (LSTM/Prophet) to forecast long-term multi-year yields under changing climate conditions.</a:t>
            </a:r>
          </a:p>
          <a:p>
            <a:endParaRPr lang="en-IN" sz="24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https://github.com/officialfarhansayyed-prog/Seasonal_Agriculture_Performance_Data_Analysis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F119EFB9-E095-FDC8-BC85-C6BC6F832032}"/>
              </a:ext>
            </a:extLst>
          </p:cNvPr>
          <p:cNvPicPr>
            <a:picLocks noChangeAspect="1"/>
          </p:cNvPicPr>
          <p:nvPr/>
        </p:nvPicPr>
        <p:blipFill>
          <a:blip r:embed="rId3"/>
          <a:stretch>
            <a:fillRect/>
          </a:stretch>
        </p:blipFill>
        <p:spPr>
          <a:xfrm>
            <a:off x="2612039" y="1528939"/>
            <a:ext cx="6254559" cy="4415650"/>
          </a:xfrm>
          <a:prstGeom prst="rect">
            <a:avLst/>
          </a:prstGeom>
          <a:ln w="12700">
            <a:solidFill>
              <a:schemeClr val="tx1"/>
            </a:solidFill>
          </a:ln>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1400</TotalTime>
  <Words>411</Words>
  <Application>Microsoft Office PowerPoint</Application>
  <PresentationFormat>Widescreen</PresentationFormat>
  <Paragraphs>35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Dataset Scope: Analyzed a 4,000-record agricultural dataset across Kharif, Rabi, and Zaid seasons.  Data Preparation: Applied group-median imputation (Season &amp; Crop) for missing values and IQR calculations for outlier detection.  Exploratory Data Analysis: Evaluated single-variable distributions, cross-group correlations, violin plots, and bivariate KDE density maps.  Statistical Rigor: Performed One-Way ANOVA and Tukey’s HSD post-hoc testing (p&lt;0.05) to mathematically prove inter-seasonal differences. Predictive Modeling: Trained Random Forest Regressors to identify k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FARHAN SAYYED</cp:lastModifiedBy>
  <cp:revision>100</cp:revision>
  <dcterms:created xsi:type="dcterms:W3CDTF">2021-07-11T13:13:15Z</dcterms:created>
  <dcterms:modified xsi:type="dcterms:W3CDTF">2026-09-04T13:24:25Z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